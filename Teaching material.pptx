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57" r:id="rId3"/>
    <p:sldId id="261" r:id="rId4"/>
    <p:sldId id="262" r:id="rId5"/>
    <p:sldId id="258" r:id="rId6"/>
    <p:sldId id="259" r:id="rId7"/>
    <p:sldId id="263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34"/>
    <p:restoredTop sz="94679"/>
  </p:normalViewPr>
  <p:slideViewPr>
    <p:cSldViewPr snapToGrid="0">
      <p:cViewPr varScale="1">
        <p:scale>
          <a:sx n="104" d="100"/>
          <a:sy n="104" d="100"/>
        </p:scale>
        <p:origin x="14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D5C3FF-A513-8664-6128-7753B38146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9610C6D-3DA0-9E42-F080-E8FBBC9716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4378402-BA7F-E035-0227-0EE976D76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5A9FF-7213-8B4B-9B5A-29A9B514B1ED}" type="datetimeFigureOut">
              <a:rPr kumimoji="1" lang="zh-TW" altLang="en-US" smtClean="0"/>
              <a:t>2026/2/21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9EAA1DE-843A-138F-50CC-CBCA74E1E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FCABCB0-5D81-4959-B072-0D5C02C19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247E9-446D-C244-892F-2C1F248453C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23870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3D4271-F562-C994-000A-5678F769E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6ECBBA7-39E4-4744-9211-C8BC0FE98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6C973BF-230D-0147-80DC-F9B261625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5A9FF-7213-8B4B-9B5A-29A9B514B1ED}" type="datetimeFigureOut">
              <a:rPr kumimoji="1" lang="zh-TW" altLang="en-US" smtClean="0"/>
              <a:t>2026/2/21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AF8C4AB-13E3-E73F-5D5F-8E3BC3B35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F3CCEA4-EC49-5012-B992-F75FD8AD1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247E9-446D-C244-892F-2C1F248453C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46239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A773CD-9BB3-AA81-4DB7-F4AF304A4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FB2A5DF-D61E-D6ED-1814-D3F34DD06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0CE4C7B-053F-2E6E-B1FF-BF0DCA21A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5A9FF-7213-8B4B-9B5A-29A9B514B1ED}" type="datetimeFigureOut">
              <a:rPr kumimoji="1" lang="zh-TW" altLang="en-US" smtClean="0"/>
              <a:t>2026/2/21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AE5302E-276F-68DE-15EF-E4AB6B9C6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40AB404-7142-04D9-8E14-F9B5C0478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247E9-446D-C244-892F-2C1F248453C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19729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880942-CD37-D809-9E77-357B325C9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2CE0567-5B3F-DDEA-BB65-A264AE28B8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3A46A12-6981-7E73-CCAA-E4C20FDE9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136292B-0583-748E-F5BE-31380695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5A9FF-7213-8B4B-9B5A-29A9B514B1ED}" type="datetimeFigureOut">
              <a:rPr kumimoji="1" lang="zh-TW" altLang="en-US" smtClean="0"/>
              <a:t>2026/2/21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5023292-5A8B-A11C-C3A9-B435AFF07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F601F27-114F-F5E1-1D70-46C60E7B5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247E9-446D-C244-892F-2C1F248453C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27009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3C9260-C0D5-AADB-1965-CF882E45F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49AE3F2-3A8E-19E8-A13C-4E3F28283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8CF47CF-589A-D206-FF2B-96665379EB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F7E0A3B-D0C2-FD9B-488F-88BB968643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0860BF5-DE35-3A7C-425F-770DD6320A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F574572-A9D8-A1B4-CC89-40D4C8820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5A9FF-7213-8B4B-9B5A-29A9B514B1ED}" type="datetimeFigureOut">
              <a:rPr kumimoji="1" lang="zh-TW" altLang="en-US" smtClean="0"/>
              <a:t>2026/2/21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9149F3C-F384-72EA-A6D6-8116D460B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6F6F8D9-FC50-4004-E932-C9E1BB28F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247E9-446D-C244-892F-2C1F248453C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39355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B054FF-C723-29C8-D18B-B71205958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790D947-C856-D7A6-C810-6EACC84DD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5A9FF-7213-8B4B-9B5A-29A9B514B1ED}" type="datetimeFigureOut">
              <a:rPr kumimoji="1" lang="zh-TW" altLang="en-US" smtClean="0"/>
              <a:t>2026/2/21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5BA165E-51EF-D53C-7F82-5D82DB5BD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D99DE43-DB8D-A9FF-5292-FDBA63BBE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247E9-446D-C244-892F-2C1F248453C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6744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DD21256-4594-3DBB-AE5A-81CF9A74A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5A9FF-7213-8B4B-9B5A-29A9B514B1ED}" type="datetimeFigureOut">
              <a:rPr kumimoji="1" lang="zh-TW" altLang="en-US" smtClean="0"/>
              <a:t>2026/2/21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A83FCEF-F4F2-4E2E-4A11-6AD896305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68AF9A9-8EA5-C7E7-B7C0-9CB3AA388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247E9-446D-C244-892F-2C1F248453C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58912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4B69C5-6040-BBA8-FADF-726E4A38F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5C85506-3B3C-CD8D-A3A0-FBCDC352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C2B1AF6-86BC-B3D1-48F6-B3E7F6C80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BD9CBA2-829E-CF00-DA42-5407A589A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5A9FF-7213-8B4B-9B5A-29A9B514B1ED}" type="datetimeFigureOut">
              <a:rPr kumimoji="1" lang="zh-TW" altLang="en-US" smtClean="0"/>
              <a:t>2026/2/21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9120069-14D0-9BAA-FC98-E2A9C014A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C348172-125B-8D99-678D-211B47D06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247E9-446D-C244-892F-2C1F248453C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55312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AF62C8-8ED0-187B-E001-127D1A22E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827C2DE-8999-96AB-C2C5-ACD8389BAD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F5AEFE8-EEFF-33E1-1B2C-16E5D73072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9AA1DAD-A768-C129-6C3E-FD8A72233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5A9FF-7213-8B4B-9B5A-29A9B514B1ED}" type="datetimeFigureOut">
              <a:rPr kumimoji="1" lang="zh-TW" altLang="en-US" smtClean="0"/>
              <a:t>2026/2/21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A524F46-C3B2-D01D-C48B-D8C9E92BB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3DBE23C-14EC-41A1-424E-75D89AE04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247E9-446D-C244-892F-2C1F248453C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68965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02FB7D-5371-1A4B-F795-60CAE459F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068F329-E720-3956-E267-C8F62BA24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7422CCB-94A9-D156-E7E5-BC39C4A85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5A9FF-7213-8B4B-9B5A-29A9B514B1ED}" type="datetimeFigureOut">
              <a:rPr kumimoji="1" lang="zh-TW" altLang="en-US" smtClean="0"/>
              <a:t>2026/2/21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E4F7BBA-83FA-AAA4-5868-A0E7D3885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F2BAE37-E8B5-BBDE-A394-927B375D6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247E9-446D-C244-892F-2C1F248453C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6910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D91237E-DF08-5827-289E-437798475A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295F9F3-CFDE-50F5-076C-B9A8AD558C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4503177-8169-1AF4-ACD1-8686981AF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5A9FF-7213-8B4B-9B5A-29A9B514B1ED}" type="datetimeFigureOut">
              <a:rPr kumimoji="1" lang="zh-TW" altLang="en-US" smtClean="0"/>
              <a:t>2026/2/21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C144B08-EE09-D3FB-46E5-9D2A4B793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3891AB1-1856-0F74-FBC5-FDCBDC850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247E9-446D-C244-892F-2C1F248453C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53908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093B892-7B9F-D73B-F75E-5D354BB33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4B287EF-0FFD-B33A-E28D-A6AE16E7E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B38326E-E7EF-A44F-0AD3-C1A5117C36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A5A9FF-7213-8B4B-9B5A-29A9B514B1ED}" type="datetimeFigureOut">
              <a:rPr kumimoji="1" lang="zh-TW" altLang="en-US" smtClean="0"/>
              <a:t>2026/2/21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6EAD0E3-905F-51F7-D8CF-18EB8B6BDF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CC0C96F-A7D2-FC54-CF54-30DE04A6C5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D247E9-446D-C244-892F-2C1F248453C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554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kNkCfaH2rxc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3PgIC9KcSNE" TargetMode="External"/><Relationship Id="rId2" Type="http://schemas.openxmlformats.org/officeDocument/2006/relationships/hyperlink" Target="https://www.youtube.com/watch?v=K-yrnyvqXGo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sY0kbo251A4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f6HbY2PQDw&amp;t=2s" TargetMode="External"/><Relationship Id="rId2" Type="http://schemas.openxmlformats.org/officeDocument/2006/relationships/hyperlink" Target="https://www.youtube.com/watch?v=e81nC0LO0A8&amp;list=PLaZQkZp6WhWyvdiP49JG-rjyTPck_hvEu&amp;index=34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QVVvx_Csd2I" TargetMode="External"/><Relationship Id="rId5" Type="http://schemas.openxmlformats.org/officeDocument/2006/relationships/hyperlink" Target="https://www.youtube.com/watch?v=TIN_02pJU-Y&amp;t=54s" TargetMode="External"/><Relationship Id="rId4" Type="http://schemas.openxmlformats.org/officeDocument/2006/relationships/hyperlink" Target="https://www.youtube.com/watch?v=5KbynCj7yRQ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MiX8_JVP6PE" TargetMode="External"/><Relationship Id="rId2" Type="http://schemas.openxmlformats.org/officeDocument/2006/relationships/hyperlink" Target="https://www.youtube.com/watch?v=ZrNmCtSrL48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4-P3ckZprBk" TargetMode="External"/><Relationship Id="rId5" Type="http://schemas.openxmlformats.org/officeDocument/2006/relationships/hyperlink" Target="https://www.youtube.com/watch?v=7nWlI_TVid0" TargetMode="External"/><Relationship Id="rId4" Type="http://schemas.openxmlformats.org/officeDocument/2006/relationships/hyperlink" Target="https://www.youtube.com/watch?v=9UXM2NXVYY0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k1tD7pYKWuM" TargetMode="External"/><Relationship Id="rId2" Type="http://schemas.openxmlformats.org/officeDocument/2006/relationships/hyperlink" Target="https://www.youtube.com/watch?v=o5nflzfX5tw&amp;t=415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b7pfLpVBN8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2E42F-67D6-0AD2-EC24-39E0B736F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2126AF-801C-E8F5-ED38-F71DC924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zh-TW" b="1" i="1" dirty="0"/>
              <a:t>Course Introduction</a:t>
            </a:r>
            <a:endParaRPr kumimoji="1" lang="zh-TW" altLang="en-US" b="1" i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D349F7-071A-B0AC-8FD1-133B392E8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356" y="2041364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kumimoji="1" lang="en-US" altLang="zh-TW" b="1" i="1" dirty="0"/>
              <a:t>Information Retrieval (IR)</a:t>
            </a:r>
          </a:p>
          <a:p>
            <a:pPr marL="457200" lvl="1" indent="0">
              <a:buNone/>
            </a:pPr>
            <a:r>
              <a:rPr kumimoji="1" lang="en-US" altLang="zh-TW" b="1" i="1" dirty="0"/>
              <a:t>    -- Information Extraction (IE)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en-US" altLang="zh-TW" b="1" i="1" dirty="0"/>
              <a:t>Semantic Networks</a:t>
            </a:r>
          </a:p>
          <a:p>
            <a:pPr lvl="1"/>
            <a:endParaRPr kumimoji="1" lang="zh-TW" altLang="en-US" b="1" i="1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416BBE1-0F90-68F2-EE42-9D99706DF775}"/>
              </a:ext>
            </a:extLst>
          </p:cNvPr>
          <p:cNvSpPr txBox="1"/>
          <p:nvPr/>
        </p:nvSpPr>
        <p:spPr>
          <a:xfrm>
            <a:off x="5969802" y="2457457"/>
            <a:ext cx="567213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700" b="1" i="1" dirty="0"/>
              <a:t>Natural Language Processing (NLP)</a:t>
            </a:r>
            <a:endParaRPr kumimoji="1" lang="zh-TW" altLang="en-US" sz="2700" b="1" i="1" dirty="0"/>
          </a:p>
        </p:txBody>
      </p:sp>
      <p:sp>
        <p:nvSpPr>
          <p:cNvPr id="5" name="右大括弧 4">
            <a:extLst>
              <a:ext uri="{FF2B5EF4-FFF2-40B4-BE49-F238E27FC236}">
                <a16:creationId xmlns:a16="http://schemas.microsoft.com/office/drawing/2014/main" id="{3A07D521-DC87-E308-D349-C20B9B3321B2}"/>
              </a:ext>
            </a:extLst>
          </p:cNvPr>
          <p:cNvSpPr/>
          <p:nvPr/>
        </p:nvSpPr>
        <p:spPr>
          <a:xfrm>
            <a:off x="5379259" y="2122326"/>
            <a:ext cx="495291" cy="1178095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6F2B66D-2E3E-301C-4273-2F1CEED77449}"/>
              </a:ext>
            </a:extLst>
          </p:cNvPr>
          <p:cNvSpPr txBox="1"/>
          <p:nvPr/>
        </p:nvSpPr>
        <p:spPr>
          <a:xfrm>
            <a:off x="2946378" y="5154927"/>
            <a:ext cx="6046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400" b="1" dirty="0"/>
              <a:t>Data/Information/Knowledge/Intelligence</a:t>
            </a:r>
            <a:endParaRPr kumimoji="1" lang="zh-TW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016151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20B2DA-4948-7BD3-81F3-C018F8C2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zh-TW" b="1" i="1" dirty="0"/>
              <a:t>What is information retrieval?</a:t>
            </a:r>
            <a:endParaRPr kumimoji="1" lang="zh-TW" altLang="en-US" b="1" i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2A44207-2DFB-F474-477F-4C6B60E00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Introduction to (</a:t>
            </a:r>
            <a:r>
              <a:rPr kumimoji="1" lang="en-US" altLang="zh-TW" u="sng" dirty="0"/>
              <a:t>traditional</a:t>
            </a:r>
            <a:r>
              <a:rPr kumimoji="1" lang="en-US" altLang="zh-TW" dirty="0"/>
              <a:t>) </a:t>
            </a:r>
            <a:r>
              <a:rPr kumimoji="1" lang="en-US" altLang="zh-TW" b="1" i="1" dirty="0"/>
              <a:t>Information Retrieval</a:t>
            </a:r>
          </a:p>
          <a:p>
            <a:pPr lvl="1"/>
            <a:r>
              <a:rPr kumimoji="1" lang="en" altLang="zh-TW" b="1" i="1" dirty="0">
                <a:hlinkClick r:id="rId2"/>
              </a:rPr>
              <a:t>https://www.youtube.com/watch?v=kNkCfaH2rxc</a:t>
            </a:r>
            <a:endParaRPr kumimoji="1" lang="en" altLang="zh-TW" b="1" i="1" dirty="0"/>
          </a:p>
          <a:p>
            <a:pPr lvl="1"/>
            <a:endParaRPr kumimoji="1" lang="zh-TW" altLang="en-US" b="1" i="1" dirty="0"/>
          </a:p>
        </p:txBody>
      </p:sp>
    </p:spTree>
    <p:extLst>
      <p:ext uri="{BB962C8B-B14F-4D97-AF65-F5344CB8AC3E}">
        <p14:creationId xmlns:p14="http://schemas.microsoft.com/office/powerpoint/2010/main" val="2257137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7A6DAF-68F0-582E-7DB7-13799CA9D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7000"/>
            <a:ext cx="10515600" cy="1325563"/>
          </a:xfrm>
        </p:spPr>
        <p:txBody>
          <a:bodyPr/>
          <a:lstStyle/>
          <a:p>
            <a:pPr algn="ctr"/>
            <a:r>
              <a:rPr kumimoji="1" lang="en-US" altLang="zh-TW" b="1" i="1" dirty="0"/>
              <a:t>What is information extraction?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11346D-5FE7-573A-0319-DD8D6A2E0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958DD36-557C-5D33-729D-51639725BBC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82" y="1262501"/>
            <a:ext cx="9804718" cy="5141596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70B16A52-DA2A-DEFB-D449-A32EC720CA4C}"/>
              </a:ext>
            </a:extLst>
          </p:cNvPr>
          <p:cNvSpPr txBox="1"/>
          <p:nvPr/>
        </p:nvSpPr>
        <p:spPr>
          <a:xfrm>
            <a:off x="838199" y="6502643"/>
            <a:ext cx="10619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/>
              <a:t>C. Cardie, "Empirical methods in information extraction," AI magazine, vol. 18, no. 4, pp. 65-65, 1997.</a:t>
            </a:r>
            <a:r>
              <a:rPr lang="zh-TW" altLang="zh-TW" b="1" i="1" dirty="0"/>
              <a:t> </a:t>
            </a:r>
            <a:endParaRPr kumimoji="1" lang="zh-TW" altLang="en-US" b="1" i="1" dirty="0"/>
          </a:p>
        </p:txBody>
      </p:sp>
    </p:spTree>
    <p:extLst>
      <p:ext uri="{BB962C8B-B14F-4D97-AF65-F5344CB8AC3E}">
        <p14:creationId xmlns:p14="http://schemas.microsoft.com/office/powerpoint/2010/main" val="1569055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444C31-E51C-EFEF-FBB3-639258619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410"/>
            <a:ext cx="10515600" cy="1325563"/>
          </a:xfrm>
        </p:spPr>
        <p:txBody>
          <a:bodyPr/>
          <a:lstStyle/>
          <a:p>
            <a:pPr algn="ctr"/>
            <a:r>
              <a:rPr kumimoji="1" lang="en-US" altLang="zh-TW" b="1" i="1" dirty="0"/>
              <a:t>What is semantic networks?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92F5AB2-5FB9-A514-B909-7E1479042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02187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kumimoji="1" lang="en-US" altLang="zh-TW" dirty="0"/>
              <a:t>A simple introduction to </a:t>
            </a:r>
            <a:r>
              <a:rPr kumimoji="1" lang="en-US" altLang="zh-TW" b="1" i="1" dirty="0"/>
              <a:t>semantic networks</a:t>
            </a:r>
          </a:p>
          <a:p>
            <a:pPr marL="914400" lvl="1" indent="-457200">
              <a:buFont typeface="+mj-lt"/>
              <a:buAutoNum type="arabicPeriod"/>
            </a:pPr>
            <a:r>
              <a:rPr kumimoji="1" lang="en-US" altLang="zh-TW" dirty="0">
                <a:hlinkClick r:id="rId2"/>
              </a:rPr>
              <a:t>https://www.youtube.com/watch?v=K-yrnyvqXGo</a:t>
            </a:r>
            <a:endParaRPr kumimoji="1" lang="en-US" altLang="zh-TW" dirty="0"/>
          </a:p>
          <a:p>
            <a:pPr lvl="2"/>
            <a:r>
              <a:rPr kumimoji="1" lang="en-US" altLang="zh-TW" dirty="0"/>
              <a:t>Due to the strong accent and the dialect in the video, you might consider to turn-off the voice (it would remain understandable!!)</a:t>
            </a:r>
          </a:p>
          <a:p>
            <a:pPr marL="914400" lvl="1" indent="-457200">
              <a:buFont typeface="+mj-lt"/>
              <a:buAutoNum type="arabicPeriod"/>
            </a:pPr>
            <a:r>
              <a:rPr kumimoji="1" lang="en-US" altLang="zh-TW" dirty="0"/>
              <a:t>Another similar explanation with some additional information/elements: </a:t>
            </a:r>
            <a:r>
              <a:rPr kumimoji="1" lang="en-US" altLang="zh-TW" dirty="0">
                <a:hlinkClick r:id="rId3"/>
              </a:rPr>
              <a:t>https://www.youtube.com/watch?v=3PgIC9KcSNE</a:t>
            </a:r>
            <a:endParaRPr kumimoji="1" lang="en-US" altLang="zh-TW" dirty="0"/>
          </a:p>
          <a:p>
            <a:pPr lvl="2"/>
            <a:r>
              <a:rPr kumimoji="1" lang="en-US" altLang="zh-TW" dirty="0"/>
              <a:t>Inheritance; Reasoning (Inference);  Exception handling 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en-US" altLang="zh-TW" dirty="0"/>
              <a:t>A more detailed and complete introduction</a:t>
            </a:r>
          </a:p>
          <a:p>
            <a:pPr lvl="1"/>
            <a:r>
              <a:rPr kumimoji="1" lang="en-US" altLang="zh-TW" dirty="0"/>
              <a:t> </a:t>
            </a:r>
            <a:r>
              <a:rPr kumimoji="1" lang="en-US" altLang="zh-TW" dirty="0">
                <a:hlinkClick r:id="rId4"/>
              </a:rPr>
              <a:t>https://www.youtube.com/watch?v=sY0kbo251A4</a:t>
            </a:r>
            <a:endParaRPr kumimoji="1" lang="en-US" altLang="zh-TW" dirty="0"/>
          </a:p>
          <a:p>
            <a:endParaRPr kumimoji="1" lang="en-US" altLang="zh-TW" b="1" i="1" dirty="0"/>
          </a:p>
          <a:p>
            <a:pPr marL="0" indent="0">
              <a:buNone/>
            </a:pPr>
            <a:endParaRPr kumimoji="1" lang="en-US" altLang="zh-TW" b="1" i="1" dirty="0"/>
          </a:p>
          <a:p>
            <a:pPr marL="514350" indent="-514350">
              <a:buFont typeface="+mj-lt"/>
              <a:buAutoNum type="arabicPeriod"/>
            </a:pPr>
            <a:r>
              <a:rPr kumimoji="1" lang="en-US" altLang="zh-TW" sz="2600" b="1" i="1" dirty="0"/>
              <a:t>WordNet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en-US" altLang="zh-TW" sz="2600" b="1" i="1" dirty="0"/>
              <a:t>The Semantic Web</a:t>
            </a:r>
            <a:endParaRPr kumimoji="1" lang="zh-TW" altLang="en-US" sz="2600" b="1" i="1" dirty="0"/>
          </a:p>
        </p:txBody>
      </p:sp>
    </p:spTree>
    <p:extLst>
      <p:ext uri="{BB962C8B-B14F-4D97-AF65-F5344CB8AC3E}">
        <p14:creationId xmlns:p14="http://schemas.microsoft.com/office/powerpoint/2010/main" val="1857469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ADD77E-2C82-3744-7AF0-0BA1075A4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326"/>
            <a:ext cx="10515600" cy="1325563"/>
          </a:xfrm>
        </p:spPr>
        <p:txBody>
          <a:bodyPr/>
          <a:lstStyle/>
          <a:p>
            <a:pPr algn="ctr"/>
            <a:r>
              <a:rPr kumimoji="1" lang="en-US" altLang="zh-TW" b="1" i="1" dirty="0"/>
              <a:t>Traditional Information Retrieval--</a:t>
            </a:r>
            <a:br>
              <a:rPr kumimoji="1" lang="en-US" altLang="zh-TW" b="1" i="1" dirty="0"/>
            </a:br>
            <a:r>
              <a:rPr kumimoji="1" lang="en-US" altLang="zh-TW" sz="4000" b="1" i="1" dirty="0"/>
              <a:t>Basics</a:t>
            </a:r>
            <a:endParaRPr kumimoji="1" lang="zh-TW" altLang="en-US" sz="4000" b="1" i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69B9087-A7C8-4CEB-B4E1-8E528B066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0012"/>
            <a:ext cx="10515600" cy="5943600"/>
          </a:xfrm>
        </p:spPr>
        <p:txBody>
          <a:bodyPr>
            <a:normAutofit/>
          </a:bodyPr>
          <a:lstStyle/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kumimoji="1" lang="en-US" altLang="zh-TW" dirty="0"/>
              <a:t>Term-document matrices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kumimoji="1" lang="en" altLang="zh-TW" dirty="0">
                <a:hlinkClick r:id="rId2"/>
              </a:rPr>
              <a:t>https://www.youtube.com/watch?v=e81nC0LO0A8&amp;list=PLaZQkZp6WhWyvdiP49JG-rjyTPck_hvEu&amp;index=34</a:t>
            </a:r>
            <a:endParaRPr kumimoji="1" lang="en" altLang="zh-TW" dirty="0"/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kumimoji="1" lang="en-US" altLang="zh-TW" dirty="0"/>
              <a:t>The inverted index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kumimoji="1" lang="en" altLang="zh-TW" dirty="0">
                <a:hlinkClick r:id="rId3"/>
              </a:rPr>
              <a:t>https://www.youtube.com/watch?v=Wf6HbY2PQDw&amp;t=2s</a:t>
            </a:r>
            <a:endParaRPr kumimoji="1" lang="en" altLang="zh-TW" dirty="0"/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kumimoji="1" lang="en" altLang="zh-TW" dirty="0"/>
              <a:t>Query processing with the inverted index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kumimoji="1" lang="en" altLang="zh-TW" dirty="0">
                <a:hlinkClick r:id="rId4"/>
              </a:rPr>
              <a:t>https://www.youtube.com/watch?v=5KbynCj7yRQ</a:t>
            </a:r>
            <a:endParaRPr kumimoji="1" lang="en" altLang="zh-TW" dirty="0"/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kumimoji="1" lang="en" altLang="zh-TW" dirty="0"/>
              <a:t>The Boolean retrieval model and an extended Boolean model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kumimoji="1" lang="en" altLang="zh-TW" dirty="0">
                <a:hlinkClick r:id="rId5"/>
              </a:rPr>
              <a:t>https://www.youtube.com/watch?v=TIN_02pJU-Y&amp;t=54s</a:t>
            </a:r>
            <a:endParaRPr kumimoji="1" lang="en" altLang="zh-TW" dirty="0"/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kumimoji="1" lang="en" altLang="zh-TW" dirty="0"/>
              <a:t>Phrase queries and positional indexes</a:t>
            </a:r>
          </a:p>
          <a:p>
            <a:pPr lvl="1">
              <a:spcBef>
                <a:spcPts val="0"/>
              </a:spcBef>
            </a:pPr>
            <a:r>
              <a:rPr kumimoji="1" lang="en" altLang="zh-TW" dirty="0">
                <a:hlinkClick r:id="rId6"/>
              </a:rPr>
              <a:t>https://www.youtube.com/watch?v=QVVvx_Csd2I</a:t>
            </a:r>
            <a:endParaRPr kumimoji="1" lang="en" altLang="zh-TW" dirty="0"/>
          </a:p>
          <a:p>
            <a:pPr lvl="1"/>
            <a:endParaRPr kumimoji="1" lang="en" altLang="zh-TW" dirty="0"/>
          </a:p>
          <a:p>
            <a:pPr marL="514350" indent="-514350">
              <a:buFont typeface="+mj-lt"/>
              <a:buAutoNum type="arabicPeriod"/>
            </a:pPr>
            <a:endParaRPr kumimoji="1" lang="en" altLang="zh-TW" dirty="0"/>
          </a:p>
          <a:p>
            <a:pPr marL="457200" lvl="1" indent="0">
              <a:buNone/>
            </a:pPr>
            <a:r>
              <a:rPr kumimoji="1" lang="en" altLang="zh-TW" dirty="0"/>
              <a:t>  </a:t>
            </a:r>
          </a:p>
          <a:p>
            <a:pPr lvl="1"/>
            <a:endParaRPr kumimoji="1" lang="en" altLang="zh-TW" dirty="0"/>
          </a:p>
          <a:p>
            <a:pPr lvl="1"/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6866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F206D9-0C61-04F3-FBB6-DBAC43155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zh-TW" b="1" i="1" dirty="0"/>
              <a:t>Traditional Information Retrieval--</a:t>
            </a:r>
            <a:br>
              <a:rPr kumimoji="1" lang="en-US" altLang="zh-TW" b="1" i="1" dirty="0"/>
            </a:br>
            <a:r>
              <a:rPr kumimoji="1" lang="en-US" altLang="zh-TW" sz="4000" b="1" i="1" dirty="0"/>
              <a:t>Ranked Retrieval</a:t>
            </a:r>
            <a:endParaRPr kumimoji="1" lang="zh-TW" altLang="en-US" sz="4000" i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3FF541-6555-0885-545E-61AD5929E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5461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kumimoji="1" lang="en-US" altLang="zh-TW" dirty="0"/>
              <a:t>Introducing ranked retrieval</a:t>
            </a:r>
          </a:p>
          <a:p>
            <a:pPr lvl="1"/>
            <a:r>
              <a:rPr kumimoji="1" lang="en" altLang="zh-TW" dirty="0">
                <a:hlinkClick r:id="rId2"/>
              </a:rPr>
              <a:t>https://www.youtube.com/watch?v=ZrNmCtSrL48</a:t>
            </a:r>
            <a:endParaRPr kumimoji="1" lang="en" altLang="zh-TW" dirty="0"/>
          </a:p>
          <a:p>
            <a:pPr marL="514350" indent="-514350">
              <a:buFont typeface="+mj-lt"/>
              <a:buAutoNum type="arabicPeriod"/>
            </a:pPr>
            <a:r>
              <a:rPr kumimoji="1" lang="en" altLang="zh-TW" dirty="0"/>
              <a:t>Scoring with the Jaccard coefficient</a:t>
            </a:r>
          </a:p>
          <a:p>
            <a:pPr lvl="1"/>
            <a:r>
              <a:rPr kumimoji="1" lang="en" altLang="zh-TW" dirty="0">
                <a:hlinkClick r:id="rId3"/>
              </a:rPr>
              <a:t>https://www.youtube.com/watch?v=MiX8_JVP6PE</a:t>
            </a:r>
            <a:endParaRPr kumimoji="1" lang="en" altLang="zh-TW" dirty="0"/>
          </a:p>
          <a:p>
            <a:pPr marL="514350" indent="-514350">
              <a:buFont typeface="+mj-lt"/>
              <a:buAutoNum type="arabicPeriod"/>
            </a:pPr>
            <a:r>
              <a:rPr kumimoji="1" lang="en" altLang="zh-TW" dirty="0"/>
              <a:t>Term-frequency weighting</a:t>
            </a:r>
          </a:p>
          <a:p>
            <a:pPr lvl="1"/>
            <a:r>
              <a:rPr kumimoji="1" lang="en" altLang="zh-TW" dirty="0">
                <a:hlinkClick r:id="rId4"/>
              </a:rPr>
              <a:t>https://www.youtube.com/watch?v=9UXM2NXVYY0</a:t>
            </a:r>
            <a:endParaRPr kumimoji="1" lang="en" altLang="zh-TW" dirty="0"/>
          </a:p>
          <a:p>
            <a:pPr marL="514350" indent="-514350">
              <a:buFont typeface="+mj-lt"/>
              <a:buAutoNum type="arabicPeriod"/>
            </a:pPr>
            <a:r>
              <a:rPr lang="en" altLang="zh-TW" dirty="0"/>
              <a:t>Inverse document frequency weighting</a:t>
            </a:r>
          </a:p>
          <a:p>
            <a:pPr lvl="1"/>
            <a:r>
              <a:rPr lang="en" altLang="zh-TW" dirty="0">
                <a:hlinkClick r:id="rId5"/>
              </a:rPr>
              <a:t>https://www.youtube.com/watch?v=7nWlI_TVid0</a:t>
            </a:r>
            <a:endParaRPr lang="en" altLang="zh-TW" dirty="0"/>
          </a:p>
          <a:p>
            <a:pPr marL="514350" indent="-514350">
              <a:buFont typeface="+mj-lt"/>
              <a:buAutoNum type="arabicPeriod"/>
            </a:pPr>
            <a:r>
              <a:rPr lang="en" altLang="zh-TW" dirty="0"/>
              <a:t> TF-IDF weighting</a:t>
            </a:r>
          </a:p>
          <a:p>
            <a:pPr lvl="1"/>
            <a:r>
              <a:rPr lang="en" altLang="zh-TW" dirty="0">
                <a:hlinkClick r:id="rId6"/>
              </a:rPr>
              <a:t>https://www.youtube.com/watch?v=4-P3ckZprBk</a:t>
            </a:r>
            <a:endParaRPr lang="en" altLang="zh-TW" dirty="0"/>
          </a:p>
          <a:p>
            <a:pPr lvl="1"/>
            <a:endParaRPr lang="en" altLang="zh-TW" dirty="0"/>
          </a:p>
          <a:p>
            <a:pPr marL="514350" indent="-514350">
              <a:buFont typeface="+mj-lt"/>
              <a:buAutoNum type="arabicPeriod"/>
            </a:pPr>
            <a:endParaRPr lang="en" altLang="zh-TW" dirty="0"/>
          </a:p>
          <a:p>
            <a:pPr marL="514350" indent="-514350">
              <a:buFont typeface="+mj-lt"/>
              <a:buAutoNum type="arabicPeriod"/>
            </a:pPr>
            <a:endParaRPr kumimoji="1" lang="en" altLang="zh-TW" dirty="0"/>
          </a:p>
          <a:p>
            <a:endParaRPr kumimoji="1" lang="en" altLang="zh-TW" dirty="0"/>
          </a:p>
          <a:p>
            <a:pPr marL="514350" indent="-514350">
              <a:buFont typeface="+mj-lt"/>
              <a:buAutoNum type="arabicPeriod"/>
            </a:pP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06835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DC2D3-A09F-9905-17AA-4BD1D6CBB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0367A2-F257-DDBF-9ED1-DED3B39DF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zh-TW" b="1" i="1" dirty="0"/>
              <a:t>Traditional Information Retrieval--</a:t>
            </a:r>
            <a:br>
              <a:rPr kumimoji="1" lang="en-US" altLang="zh-TW" b="1" i="1" dirty="0"/>
            </a:br>
            <a:r>
              <a:rPr kumimoji="1" lang="en-US" altLang="zh-TW" sz="4000" b="1" i="1" dirty="0"/>
              <a:t>Ranked Retrieval</a:t>
            </a:r>
            <a:r>
              <a:rPr kumimoji="1" lang="zh-TW" altLang="en-US" sz="4000" b="1" i="1" dirty="0"/>
              <a:t> </a:t>
            </a:r>
            <a:r>
              <a:rPr kumimoji="1" lang="en-US" altLang="zh-TW" sz="4000" b="1" i="1" dirty="0"/>
              <a:t>(2)</a:t>
            </a:r>
            <a:endParaRPr kumimoji="1" lang="zh-TW" altLang="en-US" sz="4000" i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2265A54-120A-5AAE-630D-4D462FA29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546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kumimoji="1" lang="en-US" altLang="zh-TW" dirty="0"/>
              <a:t>The vector space model</a:t>
            </a:r>
          </a:p>
          <a:p>
            <a:pPr lvl="1"/>
            <a:r>
              <a:rPr kumimoji="1" lang="en" altLang="zh-TW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https://www.youtube.com/watch?v=o5nflzfX5tw&amp;t=415s</a:t>
            </a:r>
            <a:endParaRPr kumimoji="1" lang="en" altLang="zh-TW" dirty="0"/>
          </a:p>
          <a:p>
            <a:pPr marL="514350" indent="-514350">
              <a:buFont typeface="+mj-lt"/>
              <a:buAutoNum type="arabicPeriod"/>
            </a:pPr>
            <a:r>
              <a:rPr lang="en" altLang="zh-TW" dirty="0"/>
              <a:t>Calculating TF-IDF cosine scores</a:t>
            </a:r>
          </a:p>
          <a:p>
            <a:pPr lvl="1"/>
            <a:r>
              <a:rPr kumimoji="1" lang="en" altLang="zh-TW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https://www.youtube.com/watch?v=k1tD7pYKWuM</a:t>
            </a:r>
            <a:endParaRPr kumimoji="1" lang="en" altLang="zh-TW" dirty="0"/>
          </a:p>
          <a:p>
            <a:pPr marL="514350" indent="-514350">
              <a:buFont typeface="+mj-lt"/>
              <a:buAutoNum type="arabicPeriod"/>
            </a:pPr>
            <a:r>
              <a:rPr lang="en" altLang="zh-TW" dirty="0"/>
              <a:t>Evaluating search engines</a:t>
            </a:r>
            <a:endParaRPr kumimoji="1" lang="en" altLang="zh-TW" dirty="0"/>
          </a:p>
          <a:p>
            <a:pPr lvl="1"/>
            <a:r>
              <a:rPr kumimoji="1" lang="en" altLang="zh-TW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https://www.youtube.com/watch?v=b7pfLpVBN84</a:t>
            </a:r>
            <a:endParaRPr kumimoji="1" lang="en" altLang="zh-TW" dirty="0"/>
          </a:p>
          <a:p>
            <a:pPr marL="457200" lvl="1" indent="0">
              <a:buNone/>
            </a:pPr>
            <a:endParaRPr lang="en" altLang="zh-TW" dirty="0"/>
          </a:p>
          <a:p>
            <a:pPr marL="514350" indent="-514350">
              <a:buFont typeface="+mj-lt"/>
              <a:buAutoNum type="arabicPeriod"/>
            </a:pPr>
            <a:endParaRPr lang="en" altLang="zh-TW" dirty="0"/>
          </a:p>
          <a:p>
            <a:pPr marL="514350" indent="-514350">
              <a:buFont typeface="+mj-lt"/>
              <a:buAutoNum type="arabicPeriod"/>
            </a:pPr>
            <a:endParaRPr kumimoji="1" lang="en" altLang="zh-TW" dirty="0"/>
          </a:p>
          <a:p>
            <a:endParaRPr kumimoji="1" lang="en" altLang="zh-TW" dirty="0"/>
          </a:p>
          <a:p>
            <a:pPr marL="514350" indent="-514350">
              <a:buFont typeface="+mj-lt"/>
              <a:buAutoNum type="arabicPeriod"/>
            </a:pP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15930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22188</TotalTime>
  <Words>467</Words>
  <Application>Microsoft Macintosh PowerPoint</Application>
  <PresentationFormat>寬螢幕</PresentationFormat>
  <Paragraphs>61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佈景主題</vt:lpstr>
      <vt:lpstr>Course Introduction</vt:lpstr>
      <vt:lpstr>What is information retrieval?</vt:lpstr>
      <vt:lpstr>What is information extraction?</vt:lpstr>
      <vt:lpstr>What is semantic networks?</vt:lpstr>
      <vt:lpstr>Traditional Information Retrieval-- Basics</vt:lpstr>
      <vt:lpstr>Traditional Information Retrieval-- Ranked Retrieval</vt:lpstr>
      <vt:lpstr>Traditional Information Retrieval-- Ranked Retrieval (2)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Yang Syu</dc:creator>
  <cp:lastModifiedBy>Microsoft Office User</cp:lastModifiedBy>
  <cp:revision>43</cp:revision>
  <dcterms:created xsi:type="dcterms:W3CDTF">2025-08-14T17:23:41Z</dcterms:created>
  <dcterms:modified xsi:type="dcterms:W3CDTF">2026-02-21T15:36:27Z</dcterms:modified>
</cp:coreProperties>
</file>